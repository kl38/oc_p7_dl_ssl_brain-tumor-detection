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2" r:id="rId1"/>
  </p:sldMasterIdLst>
  <p:sldIdLst>
    <p:sldId id="256" r:id="rId2"/>
    <p:sldId id="257" r:id="rId3"/>
    <p:sldId id="331" r:id="rId4"/>
    <p:sldId id="335" r:id="rId5"/>
    <p:sldId id="336" r:id="rId6"/>
    <p:sldId id="346" r:id="rId7"/>
    <p:sldId id="337" r:id="rId8"/>
    <p:sldId id="342" r:id="rId9"/>
    <p:sldId id="338" r:id="rId10"/>
    <p:sldId id="341" r:id="rId11"/>
    <p:sldId id="344" r:id="rId12"/>
    <p:sldId id="353" r:id="rId13"/>
    <p:sldId id="339" r:id="rId14"/>
    <p:sldId id="340" r:id="rId15"/>
    <p:sldId id="343" r:id="rId16"/>
    <p:sldId id="349" r:id="rId17"/>
    <p:sldId id="345" r:id="rId18"/>
    <p:sldId id="354" r:id="rId19"/>
    <p:sldId id="356" r:id="rId20"/>
    <p:sldId id="351" r:id="rId21"/>
    <p:sldId id="358" r:id="rId22"/>
    <p:sldId id="350" r:id="rId23"/>
    <p:sldId id="355" r:id="rId24"/>
    <p:sldId id="357" r:id="rId25"/>
    <p:sldId id="334" r:id="rId26"/>
    <p:sldId id="332" r:id="rId27"/>
    <p:sldId id="333" r:id="rId28"/>
    <p:sldId id="30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A6E4"/>
    <a:srgbClr val="D6A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Style moye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26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400" dirty="0" err="1"/>
            <a:t>Embedding</a:t>
          </a:r>
          <a:endParaRPr lang="en-US" sz="14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400" dirty="0" err="1"/>
            <a:t>Processing</a:t>
          </a:r>
          <a:endParaRPr lang="en-US" sz="14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400" dirty="0" err="1"/>
            <a:t>Dataset</a:t>
          </a:r>
          <a:r>
            <a:rPr lang="fr-FR" sz="1400" dirty="0"/>
            <a:t> </a:t>
          </a:r>
          <a:r>
            <a:rPr lang="fr-FR" sz="1400" dirty="0" err="1"/>
            <a:t>Pytorch</a:t>
          </a:r>
          <a:endParaRPr lang="en-US" sz="14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400" dirty="0"/>
            <a:t>Clustering</a:t>
          </a:r>
          <a:endParaRPr lang="en-US" sz="14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400" dirty="0"/>
            <a:t>CNN</a:t>
          </a:r>
          <a:endParaRPr lang="en-US" sz="14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/>
            <a:t>Avec </a:t>
          </a:r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1B72E089-E1E6-4673-91A2-F5CE467BA819}">
      <dgm:prSet phldrT="[Texte]"/>
      <dgm:spPr/>
      <dgm:t>
        <a:bodyPr/>
        <a:lstStyle/>
        <a:p>
          <a:r>
            <a:rPr lang="fr-FR" dirty="0"/>
            <a:t>GMM</a:t>
          </a:r>
          <a:endParaRPr lang="en-US" dirty="0"/>
        </a:p>
      </dgm:t>
    </dgm:pt>
    <dgm:pt modelId="{FBE4CB2B-D130-4946-9630-5CED3F556222}" type="parTrans" cxnId="{5351F398-35E8-42DF-8614-C25A92CCD931}">
      <dgm:prSet/>
      <dgm:spPr/>
      <dgm:t>
        <a:bodyPr/>
        <a:lstStyle/>
        <a:p>
          <a:endParaRPr lang="en-US"/>
        </a:p>
      </dgm:t>
    </dgm:pt>
    <dgm:pt modelId="{27F88970-08E0-45A4-AAD2-51D3C1704DC3}" type="sibTrans" cxnId="{5351F398-35E8-42DF-8614-C25A92CCD931}">
      <dgm:prSet/>
      <dgm:spPr/>
      <dgm:t>
        <a:bodyPr/>
        <a:lstStyle/>
        <a:p>
          <a:endParaRPr lang="en-US"/>
        </a:p>
      </dgm:t>
    </dgm:pt>
    <dgm:pt modelId="{21293DC9-58FD-4430-9FE8-D3A6684A5265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DC4F042F-BA05-4A4D-BB65-2303C428552C}" type="parTrans" cxnId="{22078FAD-CFEF-4EF1-B35B-581F7535B76A}">
      <dgm:prSet/>
      <dgm:spPr/>
      <dgm:t>
        <a:bodyPr/>
        <a:lstStyle/>
        <a:p>
          <a:endParaRPr lang="en-US"/>
        </a:p>
      </dgm:t>
    </dgm:pt>
    <dgm:pt modelId="{915F8B8F-C2A4-427B-911D-0E02E9513196}" type="sibTrans" cxnId="{22078FAD-CFEF-4EF1-B35B-581F7535B76A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5" custLinFactNeighborX="978"/>
      <dgm:spPr/>
    </dgm:pt>
    <dgm:pt modelId="{C8FA46CC-7D20-4A2E-91E4-4EBE856496D7}" type="pres">
      <dgm:prSet presAssocID="{D8C7401B-1107-458B-837E-69444C463191}" presName="desTx" presStyleLbl="fgAcc1" presStyleIdx="0" presStyleCnt="5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4"/>
      <dgm:spPr/>
    </dgm:pt>
    <dgm:pt modelId="{F2C26AF4-2C81-474E-B21A-C38D51FDFB12}" type="pres">
      <dgm:prSet presAssocID="{9B07F093-31C9-4D46-9940-26DE5EB98CD2}" presName="connTx" presStyleLbl="sibTrans2D1" presStyleIdx="0" presStyleCnt="4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5" custLinFactNeighborX="978"/>
      <dgm:spPr/>
    </dgm:pt>
    <dgm:pt modelId="{878EF815-8F21-406C-AF87-5C782900E1A7}" type="pres">
      <dgm:prSet presAssocID="{2127D867-BE31-449A-9699-23698FF7553E}" presName="desTx" presStyleLbl="fgAcc1" presStyleIdx="1" presStyleCnt="5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4"/>
      <dgm:spPr/>
    </dgm:pt>
    <dgm:pt modelId="{E6CDBDE5-5A06-45E9-BD89-772CB61F4102}" type="pres">
      <dgm:prSet presAssocID="{02F86CCB-1E08-4CCD-8B49-52E04407FD3A}" presName="connTx" presStyleLbl="sibTrans2D1" presStyleIdx="1" presStyleCnt="4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5" custLinFactNeighborX="978"/>
      <dgm:spPr/>
    </dgm:pt>
    <dgm:pt modelId="{CFAFC0F1-4F74-44E0-B935-67FEDB0B9936}" type="pres">
      <dgm:prSet presAssocID="{E9D9AF0A-03A2-400C-8D62-7FD014A580E3}" presName="desTx" presStyleLbl="fgAcc1" presStyleIdx="2" presStyleCnt="5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4" custScaleX="131583"/>
      <dgm:spPr/>
    </dgm:pt>
    <dgm:pt modelId="{2F80302F-3AAD-49DB-A00D-47FCF280D7B8}" type="pres">
      <dgm:prSet presAssocID="{B88B9E46-3167-48F1-B9F0-92C04F1EDDCD}" presName="connTx" presStyleLbl="sibTrans2D1" presStyleIdx="2" presStyleCnt="4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3" presStyleCnt="5" custLinFactNeighborX="978"/>
      <dgm:spPr/>
    </dgm:pt>
    <dgm:pt modelId="{67FB3BBE-E202-487D-BD76-DD3F6D3F5F8C}" type="pres">
      <dgm:prSet presAssocID="{7C11516A-9937-4819-9A8A-258A6430816D}" presName="desTx" presStyleLbl="fgAcc1" presStyleIdx="3" presStyleCnt="5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3" presStyleCnt="4"/>
      <dgm:spPr/>
    </dgm:pt>
    <dgm:pt modelId="{09CDEA0B-6279-44A5-99AA-5B0BDEE4E3A0}" type="pres">
      <dgm:prSet presAssocID="{D4915C26-F969-49EF-BF90-241F890B8840}" presName="connTx" presStyleLbl="sibTrans2D1" presStyleIdx="3" presStyleCnt="4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4" presStyleCnt="5"/>
      <dgm:spPr/>
    </dgm:pt>
    <dgm:pt modelId="{E55327C6-F631-4584-8249-73C213519779}" type="pres">
      <dgm:prSet presAssocID="{73DD6E8E-09EA-4C4E-B45B-0825CB59D318}" presName="desTx" presStyleLbl="fgAcc1" presStyleIdx="4" presStyleCnt="5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3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90C8C575-A20E-4E7F-B853-CEECA505EE6B}" type="presOf" srcId="{21293DC9-58FD-4430-9FE8-D3A6684A5265}" destId="{CFAFC0F1-4F74-44E0-B935-67FEDB0B9936}" srcOrd="0" destOrd="1" presId="urn:microsoft.com/office/officeart/2005/8/layout/process3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6743397A-2773-4438-9D31-DA52A3E99025}" type="presOf" srcId="{1B72E089-E1E6-4673-91A2-F5CE467BA819}" destId="{67FB3BBE-E202-487D-BD76-DD3F6D3F5F8C}" srcOrd="0" destOrd="2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5351F398-35E8-42DF-8614-C25A92CCD931}" srcId="{7C11516A-9937-4819-9A8A-258A6430816D}" destId="{1B72E089-E1E6-4673-91A2-F5CE467BA819}" srcOrd="2" destOrd="0" parTransId="{FBE4CB2B-D130-4946-9630-5CED3F556222}" sibTransId="{27F88970-08E0-45A4-AAD2-51D3C1704DC3}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2078FAD-CFEF-4EF1-B35B-581F7535B76A}" srcId="{E9D9AF0A-03A2-400C-8D62-7FD014A580E3}" destId="{21293DC9-58FD-4430-9FE8-D3A6684A5265}" srcOrd="1" destOrd="0" parTransId="{DC4F042F-BA05-4A4D-BB65-2303C428552C}" sibTransId="{915F8B8F-C2A4-427B-911D-0E02E9513196}"/>
    <dgm:cxn modelId="{2CBD6FB4-B28D-4FC3-A0D9-072850BE90B8}" srcId="{3CE5ED3D-40B4-49B2-A0E6-D2077B9B2DB0}" destId="{73DD6E8E-09EA-4C4E-B45B-0825CB59D318}" srcOrd="4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3998F8CA-8A53-4E61-9D1A-D4DDF77CA5D5}" srcId="{7C11516A-9937-4819-9A8A-258A6430816D}" destId="{9F5B7A23-1E1F-4318-B7B2-3031B0A34FE4}" srcOrd="3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3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FECC5A95-D6D8-4C76-8521-4B72F3EE19B6}" type="presParOf" srcId="{6EBCA79A-0A03-4949-BEEF-5BE21A96FA72}" destId="{83EB9BBE-5DF4-4EF0-B3BE-22D410E9CA7C}" srcOrd="6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7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8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400" dirty="0"/>
            <a:t>CNN</a:t>
          </a:r>
          <a:endParaRPr lang="en-US" sz="14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300" dirty="0"/>
            <a:t>Sur labels forts</a:t>
          </a:r>
          <a:endParaRPr lang="en-US" sz="13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21930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Dataset</a:t>
          </a:r>
          <a:r>
            <a:rPr lang="fr-FR" sz="1400" kern="1200" dirty="0"/>
            <a:t> </a:t>
          </a:r>
          <a:r>
            <a:rPr lang="fr-FR" sz="1400" kern="1200" dirty="0" err="1"/>
            <a:t>Pytorch</a:t>
          </a:r>
          <a:endParaRPr lang="en-US" sz="1400" kern="1200" dirty="0"/>
        </a:p>
      </dsp:txBody>
      <dsp:txXfrm>
        <a:off x="21930" y="1835208"/>
        <a:ext cx="1543118" cy="374400"/>
      </dsp:txXfrm>
    </dsp:sp>
    <dsp:sp modelId="{C8FA46CC-7D20-4A2E-91E4-4EBE856496D7}">
      <dsp:nvSpPr>
        <dsp:cNvPr id="0" name=""/>
        <dsp:cNvSpPr/>
      </dsp:nvSpPr>
      <dsp:spPr>
        <a:xfrm>
          <a:off x="322899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Resize</a:t>
          </a:r>
          <a:r>
            <a:rPr lang="fr-FR" sz="1300" kern="1200" dirty="0"/>
            <a:t> 224x224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Normalisation </a:t>
          </a:r>
          <a:r>
            <a:rPr lang="fr-FR" sz="1300" kern="1200" dirty="0" err="1"/>
            <a:t>Imagenet</a:t>
          </a:r>
          <a:r>
            <a:rPr lang="fr-FR" sz="1300" kern="1200" dirty="0"/>
            <a:t> </a:t>
          </a:r>
          <a:endParaRPr lang="en-US" sz="1300" kern="1200" dirty="0"/>
        </a:p>
      </dsp:txBody>
      <dsp:txXfrm>
        <a:off x="358581" y="2245290"/>
        <a:ext cx="1471754" cy="1146898"/>
      </dsp:txXfrm>
    </dsp:sp>
    <dsp:sp modelId="{4F059184-ADAD-41E7-9F75-1CAB483F23B6}">
      <dsp:nvSpPr>
        <dsp:cNvPr id="0" name=""/>
        <dsp:cNvSpPr/>
      </dsp:nvSpPr>
      <dsp:spPr>
        <a:xfrm>
          <a:off x="1798980" y="1830312"/>
          <a:ext cx="49593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798980" y="1907150"/>
        <a:ext cx="380677" cy="230515"/>
      </dsp:txXfrm>
    </dsp:sp>
    <dsp:sp modelId="{94A58DC2-9600-47BD-9349-9FA33A1B8074}">
      <dsp:nvSpPr>
        <dsp:cNvPr id="0" name=""/>
        <dsp:cNvSpPr/>
      </dsp:nvSpPr>
      <dsp:spPr>
        <a:xfrm>
          <a:off x="2500773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Embedding</a:t>
          </a:r>
          <a:endParaRPr lang="en-US" sz="1400" kern="1200" dirty="0"/>
        </a:p>
      </dsp:txBody>
      <dsp:txXfrm>
        <a:off x="2500773" y="1835208"/>
        <a:ext cx="1543118" cy="374400"/>
      </dsp:txXfrm>
    </dsp:sp>
    <dsp:sp modelId="{878EF815-8F21-406C-AF87-5C782900E1A7}">
      <dsp:nvSpPr>
        <dsp:cNvPr id="0" name=""/>
        <dsp:cNvSpPr/>
      </dsp:nvSpPr>
      <dsp:spPr>
        <a:xfrm>
          <a:off x="2801742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ResNet</a:t>
          </a:r>
          <a:r>
            <a:rPr lang="fr-FR" sz="1300" kern="1200" dirty="0"/>
            <a:t> 50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EfficientNet</a:t>
          </a:r>
          <a:r>
            <a:rPr lang="fr-FR" sz="1300" kern="1200" dirty="0"/>
            <a:t> b4</a:t>
          </a:r>
          <a:endParaRPr lang="en-US" sz="1300" kern="1200" dirty="0"/>
        </a:p>
      </dsp:txBody>
      <dsp:txXfrm>
        <a:off x="2837424" y="2245290"/>
        <a:ext cx="1471754" cy="1146898"/>
      </dsp:txXfrm>
    </dsp:sp>
    <dsp:sp modelId="{84042F93-5D45-4AEB-987D-67D85B212F03}">
      <dsp:nvSpPr>
        <dsp:cNvPr id="0" name=""/>
        <dsp:cNvSpPr/>
      </dsp:nvSpPr>
      <dsp:spPr>
        <a:xfrm>
          <a:off x="4277823" y="1830312"/>
          <a:ext cx="49593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277823" y="1907150"/>
        <a:ext cx="380677" cy="230515"/>
      </dsp:txXfrm>
    </dsp:sp>
    <dsp:sp modelId="{2C12FE64-C148-46CF-901F-081CBA511F68}">
      <dsp:nvSpPr>
        <dsp:cNvPr id="0" name=""/>
        <dsp:cNvSpPr/>
      </dsp:nvSpPr>
      <dsp:spPr>
        <a:xfrm>
          <a:off x="4979616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 err="1"/>
            <a:t>Processing</a:t>
          </a:r>
          <a:endParaRPr lang="en-US" sz="1400" kern="1200" dirty="0"/>
        </a:p>
      </dsp:txBody>
      <dsp:txXfrm>
        <a:off x="4979616" y="1835208"/>
        <a:ext cx="1543118" cy="374400"/>
      </dsp:txXfrm>
    </dsp:sp>
    <dsp:sp modelId="{CFAFC0F1-4F74-44E0-B935-67FEDB0B9936}">
      <dsp:nvSpPr>
        <dsp:cNvPr id="0" name=""/>
        <dsp:cNvSpPr/>
      </dsp:nvSpPr>
      <dsp:spPr>
        <a:xfrm>
          <a:off x="5280585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StandardScaler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PCA</a:t>
          </a:r>
          <a:endParaRPr lang="en-US" sz="1300" kern="1200" dirty="0"/>
        </a:p>
      </dsp:txBody>
      <dsp:txXfrm>
        <a:off x="5316267" y="2245290"/>
        <a:ext cx="1471754" cy="1146898"/>
      </dsp:txXfrm>
    </dsp:sp>
    <dsp:sp modelId="{BCC1DD08-4121-4F73-BE97-B9784C8D42EB}">
      <dsp:nvSpPr>
        <dsp:cNvPr id="0" name=""/>
        <dsp:cNvSpPr/>
      </dsp:nvSpPr>
      <dsp:spPr>
        <a:xfrm>
          <a:off x="6678350" y="1830312"/>
          <a:ext cx="652564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78350" y="1907150"/>
        <a:ext cx="537307" cy="230515"/>
      </dsp:txXfrm>
    </dsp:sp>
    <dsp:sp modelId="{0564B863-7244-41E1-B9A7-A08E1ACFBDD7}">
      <dsp:nvSpPr>
        <dsp:cNvPr id="0" name=""/>
        <dsp:cNvSpPr/>
      </dsp:nvSpPr>
      <dsp:spPr>
        <a:xfrm>
          <a:off x="7458459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Clustering</a:t>
          </a:r>
          <a:endParaRPr lang="en-US" sz="1400" kern="1200" dirty="0"/>
        </a:p>
      </dsp:txBody>
      <dsp:txXfrm>
        <a:off x="7458459" y="1835208"/>
        <a:ext cx="1543118" cy="374400"/>
      </dsp:txXfrm>
    </dsp:sp>
    <dsp:sp modelId="{67FB3BBE-E202-487D-BD76-DD3F6D3F5F8C}">
      <dsp:nvSpPr>
        <dsp:cNvPr id="0" name=""/>
        <dsp:cNvSpPr/>
      </dsp:nvSpPr>
      <dsp:spPr>
        <a:xfrm>
          <a:off x="7759428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 err="1"/>
            <a:t>K_Means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DBSCAN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GMM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Visualisation t-SNE</a:t>
          </a:r>
          <a:endParaRPr lang="en-US" sz="1300" kern="1200" dirty="0"/>
        </a:p>
      </dsp:txBody>
      <dsp:txXfrm>
        <a:off x="7795110" y="2245290"/>
        <a:ext cx="1471754" cy="1146898"/>
      </dsp:txXfrm>
    </dsp:sp>
    <dsp:sp modelId="{C44A358E-C949-4500-9987-710790D9A669}">
      <dsp:nvSpPr>
        <dsp:cNvPr id="0" name=""/>
        <dsp:cNvSpPr/>
      </dsp:nvSpPr>
      <dsp:spPr>
        <a:xfrm>
          <a:off x="9231736" y="1830312"/>
          <a:ext cx="487935" cy="38419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9231736" y="1907150"/>
        <a:ext cx="372678" cy="230515"/>
      </dsp:txXfrm>
    </dsp:sp>
    <dsp:sp modelId="{2729B21F-E991-4204-A16E-9EE6CDBD8032}">
      <dsp:nvSpPr>
        <dsp:cNvPr id="0" name=""/>
        <dsp:cNvSpPr/>
      </dsp:nvSpPr>
      <dsp:spPr>
        <a:xfrm>
          <a:off x="9922211" y="1835208"/>
          <a:ext cx="154311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CNN</a:t>
          </a:r>
          <a:endParaRPr lang="en-US" sz="1400" kern="1200" dirty="0"/>
        </a:p>
      </dsp:txBody>
      <dsp:txXfrm>
        <a:off x="9922211" y="1835208"/>
        <a:ext cx="1543118" cy="374400"/>
      </dsp:txXfrm>
    </dsp:sp>
    <dsp:sp modelId="{E55327C6-F631-4584-8249-73C213519779}">
      <dsp:nvSpPr>
        <dsp:cNvPr id="0" name=""/>
        <dsp:cNvSpPr/>
      </dsp:nvSpPr>
      <dsp:spPr>
        <a:xfrm>
          <a:off x="10238271" y="2209608"/>
          <a:ext cx="1543118" cy="121826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Sur labels faibles</a:t>
          </a:r>
          <a:endParaRPr lang="en-US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Avec </a:t>
          </a:r>
          <a:r>
            <a:rPr lang="fr-FR" sz="1300" kern="1200" dirty="0" err="1"/>
            <a:t>Finetuning</a:t>
          </a:r>
          <a:endParaRPr lang="en-US" sz="1300" kern="1200" dirty="0"/>
        </a:p>
      </dsp:txBody>
      <dsp:txXfrm>
        <a:off x="10273953" y="2245290"/>
        <a:ext cx="1471754" cy="114689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400" kern="1200" dirty="0"/>
            <a:t>CNN</a:t>
          </a:r>
          <a:endParaRPr lang="en-US" sz="14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456" tIns="92456" rIns="92456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300" kern="1200" dirty="0"/>
            <a:t>Sur labels forts</a:t>
          </a:r>
          <a:endParaRPr lang="en-US" sz="1300" kern="1200" dirty="0"/>
        </a:p>
      </dsp:txBody>
      <dsp:txXfrm>
        <a:off x="288129" y="416047"/>
        <a:ext cx="1255804" cy="70493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409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468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517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442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299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141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1514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6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64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16964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13590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27196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83185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76224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50140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247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7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  <p:sldLayoutId id="2147483856" r:id="rId14"/>
    <p:sldLayoutId id="2147483857" r:id="rId15"/>
    <p:sldLayoutId id="214748385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13" Type="http://schemas.openxmlformats.org/officeDocument/2006/relationships/image" Target="../media/image26.png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12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Relationship Id="rId14" Type="http://schemas.openxmlformats.org/officeDocument/2006/relationships/image" Target="../media/image27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13" Type="http://schemas.openxmlformats.org/officeDocument/2006/relationships/image" Target="../media/image26.png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12" Type="http://schemas.openxmlformats.org/officeDocument/2006/relationships/image" Target="../media/image2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Relationship Id="rId14" Type="http://schemas.openxmlformats.org/officeDocument/2006/relationships/image" Target="../media/image27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2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E316FF-57D7-40A1-99B1-94FD3BADE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fr-FR" sz="6000" b="1" dirty="0"/>
              <a:t>P7: </a:t>
            </a:r>
            <a:r>
              <a:rPr lang="fr-FR" b="1" dirty="0"/>
              <a:t>Labellisez et appliquez des approches semi-supervisées en traitement d'images</a:t>
            </a:r>
            <a:endParaRPr lang="en-US" sz="6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38AB45-FF5D-4221-9884-AD521B55D1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fr-FR" dirty="0"/>
              <a:t>OPEN CLASSROOM - Formation Data </a:t>
            </a:r>
            <a:r>
              <a:rPr lang="fr-FR" dirty="0" err="1"/>
              <a:t>Scientist</a:t>
            </a:r>
            <a:r>
              <a:rPr lang="fr-FR" dirty="0"/>
              <a:t> &amp; ML - Projet 7</a:t>
            </a:r>
          </a:p>
          <a:p>
            <a:pPr algn="l"/>
            <a:r>
              <a:rPr lang="fr-FR" dirty="0"/>
              <a:t>13/04/2026</a:t>
            </a:r>
          </a:p>
          <a:p>
            <a:pPr algn="l"/>
            <a:r>
              <a:rPr lang="fr-FR" dirty="0"/>
              <a:t>By Kevin </a:t>
            </a:r>
            <a:r>
              <a:rPr lang="fr-FR" dirty="0" err="1"/>
              <a:t>Lebayle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46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60674E-D216-4596-AAB6-06FA1F965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384" y="3078838"/>
            <a:ext cx="8596668" cy="1320800"/>
          </a:xfrm>
        </p:spPr>
        <p:txBody>
          <a:bodyPr/>
          <a:lstStyle/>
          <a:p>
            <a:r>
              <a:rPr lang="fr-FR" dirty="0"/>
              <a:t>DATASET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C3718D-6DD1-4DA2-ACC3-D7101805B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384" y="3813197"/>
            <a:ext cx="8930485" cy="25293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1506 clichés de radiographie: </a:t>
            </a:r>
          </a:p>
          <a:p>
            <a:pPr marL="457200" lvl="1" indent="0">
              <a:buNone/>
            </a:pPr>
            <a:r>
              <a:rPr lang="fr-FR" dirty="0"/>
              <a:t>50 étiquetées « CANCER »</a:t>
            </a:r>
          </a:p>
          <a:p>
            <a:pPr marL="457200" lvl="1" indent="0">
              <a:buNone/>
            </a:pPr>
            <a:r>
              <a:rPr lang="fr-FR" dirty="0"/>
              <a:t>50 étiquetées « NORMAL »</a:t>
            </a:r>
          </a:p>
          <a:p>
            <a:pPr marL="457200" lvl="1" indent="0">
              <a:buNone/>
            </a:pPr>
            <a:r>
              <a:rPr lang="fr-FR" dirty="0"/>
              <a:t>1406 non étiquetées</a:t>
            </a:r>
          </a:p>
          <a:p>
            <a:pPr marL="57150" indent="0">
              <a:buNone/>
            </a:pPr>
            <a:endParaRPr lang="fr-FR" sz="1600" dirty="0"/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Résolution unique 512 x 512 pixels.</a:t>
            </a:r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Mode RGB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BA8C6C45-8921-46EE-9C07-175E1093E14C}"/>
              </a:ext>
            </a:extLst>
          </p:cNvPr>
          <p:cNvSpPr txBox="1">
            <a:spLocks/>
          </p:cNvSpPr>
          <p:nvPr/>
        </p:nvSpPr>
        <p:spPr>
          <a:xfrm>
            <a:off x="823384" y="723254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OBJECTIF</a:t>
            </a:r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4DB361C3-BBE6-4A46-9285-88ACA862555F}"/>
              </a:ext>
            </a:extLst>
          </p:cNvPr>
          <p:cNvSpPr txBox="1">
            <a:spLocks/>
          </p:cNvSpPr>
          <p:nvPr/>
        </p:nvSpPr>
        <p:spPr>
          <a:xfrm>
            <a:off x="823384" y="1585139"/>
            <a:ext cx="3998743" cy="11265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fr-FR" dirty="0"/>
              <a:t>Automatiser la détection de tumeurs sur des radiographies de cerveaux humains.</a:t>
            </a:r>
          </a:p>
          <a:p>
            <a:pPr marL="0" indent="0" algn="just">
              <a:buNone/>
            </a:pP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27BFDFA-0075-4C49-AA56-ECC86CC31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718" y="387653"/>
            <a:ext cx="6743469" cy="6242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56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7373998" y="2456460"/>
            <a:ext cx="2252602" cy="2285241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9620683" y="2452254"/>
            <a:ext cx="2375653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9627815" y="4727910"/>
            <a:ext cx="2368521" cy="2031325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196675" y="2452254"/>
            <a:ext cx="2825973" cy="230832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502905"/>
              </p:ext>
            </p:extLst>
          </p:nvPr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9579156"/>
              </p:ext>
            </p:extLst>
          </p:nvPr>
        </p:nvGraphicFramePr>
        <p:xfrm>
          <a:off x="10114474" y="4908015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016780" y="5330539"/>
            <a:ext cx="3257222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 dirty="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5626965" y="4910030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6538" y="5170023"/>
            <a:ext cx="1600242" cy="952525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FC4BAF3C-3494-4987-965D-23070454AAAA}"/>
              </a:ext>
            </a:extLst>
          </p:cNvPr>
          <p:cNvSpPr txBox="1"/>
          <p:nvPr/>
        </p:nvSpPr>
        <p:spPr>
          <a:xfrm>
            <a:off x="206032" y="1621118"/>
            <a:ext cx="19006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(512 , 512, 3)</a:t>
            </a:r>
            <a:endParaRPr lang="en-US" sz="1400" dirty="0">
              <a:solidFill>
                <a:srgbClr val="FF0000"/>
              </a:solidFill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AD2605-CF51-4D7B-A35B-3EFDC8607F1B}"/>
              </a:ext>
            </a:extLst>
          </p:cNvPr>
          <p:cNvGrpSpPr/>
          <p:nvPr/>
        </p:nvGrpSpPr>
        <p:grpSpPr>
          <a:xfrm rot="5400000">
            <a:off x="355732" y="2293464"/>
            <a:ext cx="839430" cy="317582"/>
            <a:chOff x="7631658" y="2051998"/>
            <a:chExt cx="409951" cy="317582"/>
          </a:xfrm>
        </p:grpSpPr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329A0CFA-6ABE-45F5-A825-5BF7D7B02545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1" name="Flèche : droite 4">
              <a:extLst>
                <a:ext uri="{FF2B5EF4-FFF2-40B4-BE49-F238E27FC236}">
                  <a16:creationId xmlns:a16="http://schemas.microsoft.com/office/drawing/2014/main" id="{19EFCD71-2F9B-4DD4-88FD-42FD0533C46A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5BF39A36-0099-4463-9E91-065C176E6B16}"/>
              </a:ext>
            </a:extLst>
          </p:cNvPr>
          <p:cNvSpPr txBox="1"/>
          <p:nvPr/>
        </p:nvSpPr>
        <p:spPr>
          <a:xfrm>
            <a:off x="677334" y="4760578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(224 , 224 , 3)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6B6EC63-45DF-41EB-9DDC-B6A02D2DCC89}"/>
              </a:ext>
            </a:extLst>
          </p:cNvPr>
          <p:cNvSpPr txBox="1"/>
          <p:nvPr/>
        </p:nvSpPr>
        <p:spPr>
          <a:xfrm>
            <a:off x="3770900" y="4761044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(2048,)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D4D83B9-A15B-4461-8F17-8377B415A07A}"/>
              </a:ext>
            </a:extLst>
          </p:cNvPr>
          <p:cNvSpPr txBox="1"/>
          <p:nvPr/>
        </p:nvSpPr>
        <p:spPr>
          <a:xfrm>
            <a:off x="6335397" y="4761583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(658,)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A755D7B-146B-442E-BA04-D0113046F302}"/>
              </a:ext>
            </a:extLst>
          </p:cNvPr>
          <p:cNvSpPr txBox="1"/>
          <p:nvPr/>
        </p:nvSpPr>
        <p:spPr>
          <a:xfrm>
            <a:off x="11393250" y="2027317"/>
            <a:ext cx="55072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(2,)</a:t>
            </a:r>
            <a:endParaRPr 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3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Pytorch</a:t>
            </a:r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9A26B8F-4268-4622-8DCC-63164BFC5B91}"/>
              </a:ext>
            </a:extLst>
          </p:cNvPr>
          <p:cNvSpPr txBox="1"/>
          <p:nvPr/>
        </p:nvSpPr>
        <p:spPr>
          <a:xfrm>
            <a:off x="712694" y="1577789"/>
            <a:ext cx="635597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chemeClr val="accent1"/>
                </a:solidFill>
              </a:rPr>
              <a:t>Preprocessing</a:t>
            </a:r>
            <a:r>
              <a:rPr lang="fr-FR" sz="2000" b="1" dirty="0">
                <a:solidFill>
                  <a:schemeClr val="accent1"/>
                </a:solidFill>
              </a:rPr>
              <a:t> </a:t>
            </a:r>
            <a:r>
              <a:rPr lang="fr-FR" sz="2000" b="1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fr-FR" sz="2000" b="1" dirty="0" err="1">
                <a:solidFill>
                  <a:schemeClr val="accent1"/>
                </a:solidFill>
              </a:rPr>
              <a:t>Transforms</a:t>
            </a:r>
            <a:r>
              <a:rPr lang="fr-FR" sz="2000" b="1" dirty="0">
                <a:solidFill>
                  <a:schemeClr val="accent1"/>
                </a:solidFill>
              </a:rPr>
              <a:t> : </a:t>
            </a:r>
          </a:p>
          <a:p>
            <a:endParaRPr lang="fr-FR" sz="2000" b="1" dirty="0">
              <a:solidFill>
                <a:schemeClr val="accent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Resize</a:t>
            </a:r>
            <a:r>
              <a:rPr lang="fr-FR" dirty="0"/>
              <a:t> 224 x 224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ToTensor</a:t>
            </a:r>
            <a:endParaRPr lang="fr-F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Normalize</a:t>
            </a:r>
            <a:r>
              <a:rPr lang="fr-FR" dirty="0"/>
              <a:t> : </a:t>
            </a:r>
            <a:r>
              <a:rPr lang="en-US" dirty="0"/>
              <a:t>mean=[0.485, 0.456, 0.406],</a:t>
            </a:r>
          </a:p>
          <a:p>
            <a:pPr lvl="1"/>
            <a:r>
              <a:rPr lang="en-US" dirty="0"/>
              <a:t>                         std=[0.229, 0.224, 0.225])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endParaRPr lang="en-US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1AD270D3-A620-4519-BDCF-0EC74627BC3F}"/>
              </a:ext>
            </a:extLst>
          </p:cNvPr>
          <p:cNvCxnSpPr>
            <a:cxnSpLocks/>
          </p:cNvCxnSpPr>
          <p:nvPr/>
        </p:nvCxnSpPr>
        <p:spPr>
          <a:xfrm>
            <a:off x="6001371" y="3043518"/>
            <a:ext cx="10354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2BDC0379-61FD-49C9-BDF2-99A2CC0A3C4E}"/>
              </a:ext>
            </a:extLst>
          </p:cNvPr>
          <p:cNvSpPr txBox="1"/>
          <p:nvPr/>
        </p:nvSpPr>
        <p:spPr>
          <a:xfrm>
            <a:off x="7104030" y="2720352"/>
            <a:ext cx="2815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</a:rPr>
              <a:t>Normalisation de pixels : Standard </a:t>
            </a:r>
            <a:r>
              <a:rPr lang="fr-FR" dirty="0" err="1">
                <a:solidFill>
                  <a:schemeClr val="accent1"/>
                </a:solidFill>
              </a:rPr>
              <a:t>ImageNet</a:t>
            </a:r>
            <a:endParaRPr lang="fr-FR" dirty="0">
              <a:solidFill>
                <a:schemeClr val="accent1"/>
              </a:solidFill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48EE9021-5E0F-4DD8-8653-55ECD5D43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49" y="3559916"/>
            <a:ext cx="5013728" cy="2885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69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Embedding</a:t>
            </a:r>
            <a:r>
              <a:rPr lang="fr-FR" dirty="0"/>
              <a:t> - RESNET 50</a:t>
            </a:r>
            <a:br>
              <a:rPr lang="fr-FR" dirty="0"/>
            </a:b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B590F1-5A21-4E95-AC1B-A43E41CFF2DE}"/>
              </a:ext>
            </a:extLst>
          </p:cNvPr>
          <p:cNvSpPr txBox="1"/>
          <p:nvPr/>
        </p:nvSpPr>
        <p:spPr>
          <a:xfrm>
            <a:off x="878542" y="2878552"/>
            <a:ext cx="170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</a:rPr>
              <a:t>RESNET 50 : 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32A80AD-CFCB-4909-89B7-800AE73126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83721" y="1680579"/>
            <a:ext cx="6743876" cy="288479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36288187-1F64-4FA3-9F5C-8FA21E19B06D}"/>
              </a:ext>
            </a:extLst>
          </p:cNvPr>
          <p:cNvSpPr txBox="1"/>
          <p:nvPr/>
        </p:nvSpPr>
        <p:spPr>
          <a:xfrm>
            <a:off x="878542" y="4684881"/>
            <a:ext cx="806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Entrainement couches figées : pas de descente de gradient</a:t>
            </a:r>
          </a:p>
          <a:p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Eval + </a:t>
            </a:r>
            <a:r>
              <a:rPr lang="fr-FR" dirty="0" err="1">
                <a:sym typeface="Wingdings" panose="05000000000000000000" pitchFamily="2" charset="2"/>
              </a:rPr>
              <a:t>no_grad</a:t>
            </a:r>
            <a:endParaRPr lang="en-US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783118E-A792-4390-817D-B7DEF3292BA9}"/>
              </a:ext>
            </a:extLst>
          </p:cNvPr>
          <p:cNvSpPr txBox="1"/>
          <p:nvPr/>
        </p:nvSpPr>
        <p:spPr>
          <a:xfrm>
            <a:off x="4235825" y="5716713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Vecteurs 2048 Dimensions</a:t>
            </a:r>
          </a:p>
        </p:txBody>
      </p:sp>
    </p:spTree>
    <p:extLst>
      <p:ext uri="{BB962C8B-B14F-4D97-AF65-F5344CB8AC3E}">
        <p14:creationId xmlns:p14="http://schemas.microsoft.com/office/powerpoint/2010/main" val="327251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Embedding</a:t>
            </a:r>
            <a:r>
              <a:rPr lang="fr-FR" dirty="0"/>
              <a:t> - </a:t>
            </a:r>
            <a:r>
              <a:rPr lang="fr-FR" dirty="0" err="1"/>
              <a:t>EfficientNet</a:t>
            </a:r>
            <a:r>
              <a:rPr lang="fr-FR" dirty="0"/>
              <a:t> b4 </a:t>
            </a:r>
            <a:br>
              <a:rPr lang="fr-FR" dirty="0"/>
            </a:b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B590F1-5A21-4E95-AC1B-A43E41CFF2DE}"/>
              </a:ext>
            </a:extLst>
          </p:cNvPr>
          <p:cNvSpPr txBox="1"/>
          <p:nvPr/>
        </p:nvSpPr>
        <p:spPr>
          <a:xfrm>
            <a:off x="878542" y="2878552"/>
            <a:ext cx="170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</a:rPr>
              <a:t>EFFNET B4 : 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6288187-1F64-4FA3-9F5C-8FA21E19B06D}"/>
              </a:ext>
            </a:extLst>
          </p:cNvPr>
          <p:cNvSpPr txBox="1"/>
          <p:nvPr/>
        </p:nvSpPr>
        <p:spPr>
          <a:xfrm>
            <a:off x="878542" y="4684881"/>
            <a:ext cx="806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Entrainement couches figées : pas de descente de gradient</a:t>
            </a:r>
          </a:p>
          <a:p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Eval + </a:t>
            </a:r>
            <a:r>
              <a:rPr lang="fr-FR" dirty="0" err="1">
                <a:sym typeface="Wingdings" panose="05000000000000000000" pitchFamily="2" charset="2"/>
              </a:rPr>
              <a:t>no_grad</a:t>
            </a:r>
            <a:endParaRPr lang="en-US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783118E-A792-4390-817D-B7DEF3292BA9}"/>
              </a:ext>
            </a:extLst>
          </p:cNvPr>
          <p:cNvSpPr txBox="1"/>
          <p:nvPr/>
        </p:nvSpPr>
        <p:spPr>
          <a:xfrm>
            <a:off x="4235825" y="5716713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Vecteurs 1506 Dimensions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292BF8A-FF45-4722-BC31-1D03D6553E2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42841" y="1731411"/>
            <a:ext cx="6786175" cy="2567969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B5958648-85AE-49C6-BDC6-CEE0957F392D}"/>
              </a:ext>
            </a:extLst>
          </p:cNvPr>
          <p:cNvCxnSpPr>
            <a:cxnSpLocks/>
          </p:cNvCxnSpPr>
          <p:nvPr/>
        </p:nvCxnSpPr>
        <p:spPr>
          <a:xfrm flipV="1">
            <a:off x="8602688" y="2439297"/>
            <a:ext cx="526328" cy="595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6DB78D72-283F-4A28-BD5D-40B7DFCD62D1}"/>
              </a:ext>
            </a:extLst>
          </p:cNvPr>
          <p:cNvSpPr txBox="1"/>
          <p:nvPr/>
        </p:nvSpPr>
        <p:spPr>
          <a:xfrm>
            <a:off x="8642350" y="1636451"/>
            <a:ext cx="13584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/>
              <a:t>désactive aléatoirement 40% de neurones à chaque </a:t>
            </a:r>
            <a:r>
              <a:rPr lang="fr-FR" sz="1000" dirty="0" err="1"/>
              <a:t>forward</a:t>
            </a:r>
            <a:r>
              <a:rPr lang="fr-FR" sz="1000" dirty="0"/>
              <a:t> </a:t>
            </a:r>
            <a:r>
              <a:rPr lang="fr-FR" sz="1000" dirty="0" err="1"/>
              <a:t>pass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404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2048 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 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BEC1727-79A5-40B2-BBA3-C062D0F36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260" y="1574889"/>
            <a:ext cx="7484552" cy="370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45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EFNET 4B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B050"/>
                </a:solidFill>
              </a:rPr>
              <a:t>1506 </a:t>
            </a:r>
            <a:r>
              <a:rPr lang="fr-FR" dirty="0">
                <a:solidFill>
                  <a:srgbClr val="00B050"/>
                </a:solidFill>
                <a:sym typeface="Wingdings" panose="05000000000000000000" pitchFamily="2" charset="2"/>
              </a:rPr>
              <a:t> 379 </a:t>
            </a:r>
            <a:r>
              <a:rPr lang="fr-FR" dirty="0" err="1">
                <a:solidFill>
                  <a:srgbClr val="00B05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00B05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76177C-538B-4917-862A-866501B2F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749" y="1575000"/>
            <a:ext cx="7484106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8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807388" y="299179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EF2159B-00FA-4294-9A7D-ACEC176F2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010" y="1620680"/>
            <a:ext cx="5795344" cy="4043264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0.24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80644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0.33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9A0F761-A9C5-4C46-B4EA-6E2CCFE46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54" y="156523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77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>
                <a:solidFill>
                  <a:srgbClr val="00B050"/>
                </a:solidFill>
              </a:rPr>
              <a:t>Gaussian</a:t>
            </a:r>
            <a:r>
              <a:rPr lang="fr-FR" dirty="0">
                <a:solidFill>
                  <a:srgbClr val="00B050"/>
                </a:solidFill>
              </a:rPr>
              <a:t> Mixture </a:t>
            </a:r>
            <a:r>
              <a:rPr lang="fr-FR" dirty="0" err="1">
                <a:solidFill>
                  <a:srgbClr val="00B050"/>
                </a:solidFill>
              </a:rPr>
              <a:t>Models</a:t>
            </a:r>
            <a:r>
              <a:rPr lang="fr-FR" dirty="0"/>
              <a:t> </a:t>
            </a:r>
            <a:r>
              <a:rPr lang="fr-FR" dirty="0">
                <a:solidFill>
                  <a:srgbClr val="00B050"/>
                </a:solidFill>
              </a:rPr>
              <a:t>EFNET 4B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8A17DE8-F4A0-4640-A174-3D64CCC27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909" y="161715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12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B1CB1A9-0A80-47A9-89F1-A7AEA2A98B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FDC94083-765D-40CB-BDE5-7C33DCD59A4E}"/>
              </a:ext>
            </a:extLst>
          </p:cNvPr>
          <p:cNvSpPr txBox="1">
            <a:spLocks/>
          </p:cNvSpPr>
          <p:nvPr/>
        </p:nvSpPr>
        <p:spPr>
          <a:xfrm>
            <a:off x="1033241" y="1816100"/>
            <a:ext cx="10404918" cy="272415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br>
              <a:rPr lang="fr-FR" dirty="0"/>
            </a:br>
            <a:r>
              <a:rPr lang="fr-FR" dirty="0">
                <a:solidFill>
                  <a:schemeClr val="tx1"/>
                </a:solidFill>
              </a:rPr>
              <a:t>TEST SET 100 Labels</a:t>
            </a:r>
            <a:br>
              <a:rPr lang="fr-FR" dirty="0"/>
            </a:br>
            <a:r>
              <a:rPr lang="fr-FR" sz="4400" dirty="0"/>
              <a:t>Non supervisé 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 Semi supervisé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755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RESNET50</a:t>
            </a:r>
            <a:endParaRPr lang="en-US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A11498B-DF40-497E-861C-A23605A3C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1" y="2411351"/>
            <a:ext cx="7874792" cy="317023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25C2718-57EC-4A32-AE04-DC0EB2F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363" y="768651"/>
            <a:ext cx="3892120" cy="3072727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918748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75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68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575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79031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72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BECBB4C8-F611-4260-B440-21DA6BA07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69" y="2419262"/>
            <a:ext cx="7997266" cy="321953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9B435BF-01F6-430A-AFDF-6AD857792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859" y="843584"/>
            <a:ext cx="3853984" cy="304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47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NON SUPERVISE</a:t>
            </a:r>
            <a:br>
              <a:rPr lang="fr-FR" dirty="0"/>
            </a:br>
            <a:r>
              <a:rPr lang="fr-FR" dirty="0"/>
              <a:t>Clustering – GMM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929089"/>
              </p:ext>
            </p:extLst>
          </p:nvPr>
        </p:nvGraphicFramePr>
        <p:xfrm>
          <a:off x="9067800" y="4028462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0" dirty="0" err="1"/>
                        <a:t>Precision</a:t>
                      </a:r>
                      <a:endParaRPr 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dirty="0"/>
                        <a:t>79</a:t>
                      </a:r>
                      <a:endParaRPr lang="en-US" sz="14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76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77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31</a:t>
                      </a:r>
                      <a:endParaRPr 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2BCCEAF2-F568-46C1-BC47-C0352FCD5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718" y="786698"/>
            <a:ext cx="3642590" cy="295345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AE48C34-E76F-4866-9344-E3B8B22A1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2419262"/>
            <a:ext cx="7994440" cy="3218400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0C5835AC-7CAA-491D-B09B-1810B22F2CD8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TEST SET (100 IMAGES)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02006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977646"/>
              </p:ext>
            </p:extLst>
          </p:nvPr>
        </p:nvGraphicFramePr>
        <p:xfrm>
          <a:off x="9129061" y="3998033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(+2)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83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(+4)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76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(+1)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77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35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(+4)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BA6D2A-CF77-4F94-BCB2-F29115592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968" y="820132"/>
            <a:ext cx="3839415" cy="2959200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5EA5D666-8493-4024-85BF-344603992635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TEST SET (100 IMAGES)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CB5ABF90-A02D-4BC6-8170-ACB702B281F2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C82B4436-F9FA-4917-BED1-83A7BAA063B6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faibles</a:t>
            </a:r>
            <a:endParaRPr 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429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8" y="1990165"/>
            <a:ext cx="78179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EFNET + CNN 2 </a:t>
            </a:r>
            <a:r>
              <a:rPr lang="fr-FR" dirty="0" err="1"/>
              <a:t>Layers</a:t>
            </a:r>
            <a:r>
              <a:rPr lang="fr-FR" dirty="0"/>
              <a:t> « Classifier Head »</a:t>
            </a:r>
            <a:endParaRPr lang="fr-FR" dirty="0">
              <a:sym typeface="Wingdings" panose="05000000000000000000" pitchFamily="2" charset="2"/>
            </a:endParaRPr>
          </a:p>
          <a:p>
            <a:r>
              <a:rPr lang="en-US" dirty="0"/>
              <a:t>--&gt; Loss : </a:t>
            </a:r>
            <a:r>
              <a:rPr lang="en-US" dirty="0" err="1"/>
              <a:t>CrossEntropyLoss</a:t>
            </a:r>
            <a:r>
              <a:rPr lang="en-US" dirty="0"/>
              <a:t>(prediction, </a:t>
            </a:r>
            <a:r>
              <a:rPr lang="en-US" dirty="0" err="1"/>
              <a:t>pseudo_label_GMM</a:t>
            </a:r>
            <a:r>
              <a:rPr lang="en-US" dirty="0"/>
              <a:t>)</a:t>
            </a:r>
          </a:p>
          <a:p>
            <a:endParaRPr lang="fr-FR" dirty="0"/>
          </a:p>
          <a:p>
            <a:endParaRPr lang="en-US" dirty="0"/>
          </a:p>
          <a:p>
            <a:r>
              <a:rPr lang="fr-FR" dirty="0"/>
              <a:t>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4419087"/>
              </p:ext>
            </p:extLst>
          </p:nvPr>
        </p:nvGraphicFramePr>
        <p:xfrm>
          <a:off x="9015133" y="41134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(+4)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92 </a:t>
                      </a:r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(+13)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66 </a:t>
                      </a:r>
                      <a:r>
                        <a:rPr lang="fr-FR" sz="1400" dirty="0">
                          <a:solidFill>
                            <a:srgbClr val="FF0000"/>
                          </a:solidFill>
                        </a:rPr>
                        <a:t>(-10)</a:t>
                      </a:r>
                      <a:endParaRPr 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 </a:t>
                      </a:r>
                      <a:r>
                        <a:rPr lang="fr-FR" sz="1400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(-1)</a:t>
                      </a:r>
                      <a:endParaRPr lang="en-US" sz="14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70 </a:t>
                      </a:r>
                      <a:r>
                        <a:rPr lang="fr-FR" sz="14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(-7)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ARI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35 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(+4)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976B8EDA-468C-465F-852F-BDECF3758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594" y="609600"/>
            <a:ext cx="3841916" cy="29592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BFB1932-7BD9-45D5-AD37-33D409456A0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rcRect b="15600"/>
          <a:stretch/>
        </p:blipFill>
        <p:spPr>
          <a:xfrm>
            <a:off x="1243478" y="2985100"/>
            <a:ext cx="6232882" cy="3091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684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7C3FD5-48D4-42F4-A015-A16513056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3241" y="895351"/>
            <a:ext cx="10404918" cy="5317892"/>
          </a:xfrm>
          <a:solidFill>
            <a:schemeClr val="bg1"/>
          </a:solidFill>
        </p:spPr>
        <p:txBody>
          <a:bodyPr/>
          <a:lstStyle/>
          <a:p>
            <a:pPr algn="ctr"/>
            <a:br>
              <a:rPr lang="fr-FR" dirty="0"/>
            </a:br>
            <a:r>
              <a:rPr lang="fr-FR" dirty="0">
                <a:solidFill>
                  <a:schemeClr val="tx1"/>
                </a:solidFill>
              </a:rPr>
              <a:t>VAL SET 30 Labels</a:t>
            </a:r>
            <a:br>
              <a:rPr lang="fr-FR" dirty="0"/>
            </a:br>
            <a:r>
              <a:rPr lang="fr-FR" sz="4400" dirty="0"/>
              <a:t>Non supervisé 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 Semi supervisé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br>
              <a:rPr lang="fr-FR" sz="4400" dirty="0"/>
            </a:br>
            <a:r>
              <a:rPr lang="fr-FR" sz="4400" dirty="0"/>
              <a:t>Semi supervisé + </a:t>
            </a:r>
            <a:r>
              <a:rPr lang="fr-FR" sz="4400" dirty="0" err="1"/>
              <a:t>Finetuning</a:t>
            </a:r>
            <a:br>
              <a:rPr lang="fr-FR" sz="4400" dirty="0"/>
            </a:br>
            <a:r>
              <a:rPr lang="fr-FR" sz="3200" dirty="0">
                <a:solidFill>
                  <a:srgbClr val="FF0000"/>
                </a:solidFill>
              </a:rPr>
              <a:t>VS</a:t>
            </a:r>
            <a:r>
              <a:rPr lang="fr-FR" sz="4400" dirty="0"/>
              <a:t> </a:t>
            </a:r>
            <a:br>
              <a:rPr lang="fr-FR" sz="4400" dirty="0"/>
            </a:br>
            <a:r>
              <a:rPr lang="fr-FR" sz="4400" dirty="0"/>
              <a:t>Non supervisé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724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1 : NON SUPERVISE</a:t>
            </a:r>
            <a:br>
              <a:rPr lang="fr-FR" dirty="0"/>
            </a:br>
            <a:r>
              <a:rPr lang="fr-FR" dirty="0"/>
              <a:t>Clustering GMM sur val set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081752"/>
              </p:ext>
            </p:extLst>
          </p:nvPr>
        </p:nvGraphicFramePr>
        <p:xfrm>
          <a:off x="6894640" y="298529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FF000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67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77</a:t>
                      </a:r>
                      <a:endParaRPr lang="en-US" sz="14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kern="1200" dirty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ARI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FF0000"/>
                          </a:solidFill>
                        </a:rPr>
                        <a:t>34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75FD887-B80D-4611-836D-1CD46E35D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53" y="2602977"/>
            <a:ext cx="3287066" cy="29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504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2: 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08335"/>
              </p:ext>
            </p:extLst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80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787DB4-5946-4145-B3A5-1B41EF2B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376" y="848209"/>
            <a:ext cx="3287066" cy="2959200"/>
          </a:xfrm>
          <a:prstGeom prst="rect">
            <a:avLst/>
          </a:prstGeom>
        </p:spPr>
      </p:pic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F97762A-497D-4F0B-8A36-2483893E6A69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41889762-3C48-44D3-93C7-BAAF73683437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faibles</a:t>
            </a:r>
            <a:endParaRPr lang="en-US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411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2: SEMI SUPERVISE</a:t>
            </a:r>
            <a:br>
              <a:rPr lang="fr-FR" dirty="0"/>
            </a:br>
            <a:r>
              <a:rPr lang="fr-FR" dirty="0"/>
              <a:t>Labels faibles clustering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/>
                        <a:t>Recall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80 </a:t>
                      </a:r>
                      <a:endParaRPr lang="en-US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/>
                        <a:t>F2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80</a:t>
                      </a:r>
                      <a:endParaRPr lang="en-US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3787DB4-5946-4145-B3A5-1B41EF2B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4376" y="848209"/>
            <a:ext cx="3287066" cy="2959200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9D1B110C-2124-4D15-BEA4-2CD95881093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077"/>
          <a:stretch/>
        </p:blipFill>
        <p:spPr>
          <a:xfrm>
            <a:off x="1599421" y="1930400"/>
            <a:ext cx="6566679" cy="206094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2EE20F8-627C-4102-B587-9CDAFF9D0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4657" y="4135269"/>
            <a:ext cx="6522229" cy="2141868"/>
          </a:xfrm>
          <a:prstGeom prst="rect">
            <a:avLst/>
          </a:prstGeom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1F249299-FB88-481C-90FA-91B522E0F8C4}"/>
              </a:ext>
            </a:extLst>
          </p:cNvPr>
          <p:cNvSpPr txBox="1"/>
          <p:nvPr/>
        </p:nvSpPr>
        <p:spPr>
          <a:xfrm>
            <a:off x="139262" y="2637708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FN</a:t>
            </a:r>
            <a:endParaRPr lang="en-US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D9F14417-BECA-40A5-B29A-EE54102538AF}"/>
              </a:ext>
            </a:extLst>
          </p:cNvPr>
          <p:cNvSpPr txBox="1"/>
          <p:nvPr/>
        </p:nvSpPr>
        <p:spPr>
          <a:xfrm>
            <a:off x="139262" y="5021537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FP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965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avec coin arrondi 5">
            <a:extLst>
              <a:ext uri="{FF2B5EF4-FFF2-40B4-BE49-F238E27FC236}">
                <a16:creationId xmlns:a16="http://schemas.microsoft.com/office/drawing/2014/main" id="{4C0B48AD-637B-4060-B690-FB2C7752EE50}"/>
              </a:ext>
            </a:extLst>
          </p:cNvPr>
          <p:cNvSpPr/>
          <p:nvPr/>
        </p:nvSpPr>
        <p:spPr>
          <a:xfrm>
            <a:off x="136455" y="1869259"/>
            <a:ext cx="8207445" cy="4842691"/>
          </a:xfrm>
          <a:prstGeom prst="round1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3: SEMI SUPERVISE - </a:t>
            </a:r>
            <a:r>
              <a:rPr lang="fr-FR" b="1" dirty="0" err="1">
                <a:solidFill>
                  <a:schemeClr val="tx1"/>
                </a:solidFill>
              </a:rPr>
              <a:t>Finetuning</a:t>
            </a:r>
            <a:br>
              <a:rPr lang="fr-FR" dirty="0"/>
            </a:br>
            <a:r>
              <a:rPr lang="fr-FR" dirty="0"/>
              <a:t>CNN + Labels forts (70-30)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29702"/>
              </p:ext>
            </p:extLst>
          </p:nvPr>
        </p:nvGraphicFramePr>
        <p:xfrm>
          <a:off x="9015133" y="41134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88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00B05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93</a:t>
                      </a:r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90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kern="1200" dirty="0">
                          <a:solidFill>
                            <a:srgbClr val="00B050"/>
                          </a:solidFill>
                          <a:latin typeface="+mn-lt"/>
                          <a:ea typeface="+mn-ea"/>
                          <a:cs typeface="+mn-cs"/>
                        </a:rPr>
                        <a:t>92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ARI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63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DA2DCC53-92ED-48EB-B07A-895DC242FE24}"/>
              </a:ext>
            </a:extLst>
          </p:cNvPr>
          <p:cNvSpPr/>
          <p:nvPr/>
        </p:nvSpPr>
        <p:spPr>
          <a:xfrm>
            <a:off x="5751394" y="1869259"/>
            <a:ext cx="2586818" cy="30326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6576190" y="259758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6692278" y="2921592"/>
            <a:ext cx="879947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10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53A27F3-F008-481E-93F0-6C825C780CAC}"/>
              </a:ext>
            </a:extLst>
          </p:cNvPr>
          <p:cNvSpPr txBox="1"/>
          <p:nvPr/>
        </p:nvSpPr>
        <p:spPr>
          <a:xfrm>
            <a:off x="1682663" y="4396245"/>
            <a:ext cx="99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FREEZE</a:t>
            </a:r>
            <a:endParaRPr lang="en-US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FD51F32-4060-4B97-A4AF-00AA6889F622}"/>
              </a:ext>
            </a:extLst>
          </p:cNvPr>
          <p:cNvSpPr txBox="1"/>
          <p:nvPr/>
        </p:nvSpPr>
        <p:spPr>
          <a:xfrm>
            <a:off x="5745706" y="1958635"/>
            <a:ext cx="99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TRAIN</a:t>
            </a:r>
            <a:endParaRPr lang="en-US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E5660FF0-EFDB-4E34-B134-4059EBD0DAEA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05086AA-7D44-4897-9BD2-4E6FAAB7A6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5961" y="820132"/>
            <a:ext cx="3345914" cy="2959200"/>
          </a:xfrm>
          <a:prstGeom prst="rect">
            <a:avLst/>
          </a:prstGeom>
        </p:spPr>
      </p:pic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E3A406AA-713B-42E7-98A1-D10536AEB41E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7779853" y="1695836"/>
            <a:ext cx="0" cy="15066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3BE392BD-4C7E-45A3-A05D-01B676E2F38A}"/>
              </a:ext>
            </a:extLst>
          </p:cNvPr>
          <p:cNvSpPr txBox="1"/>
          <p:nvPr/>
        </p:nvSpPr>
        <p:spPr>
          <a:xfrm>
            <a:off x="7078179" y="1326504"/>
            <a:ext cx="1403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forts</a:t>
            </a:r>
            <a:endParaRPr lang="en-US" dirty="0">
              <a:solidFill>
                <a:schemeClr val="accent5"/>
              </a:solidFill>
            </a:endParaRPr>
          </a:p>
        </p:txBody>
      </p: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6956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chemeClr val="tx1"/>
                </a:solidFill>
              </a:rPr>
              <a:t>4: SUPERVISE</a:t>
            </a:r>
            <a:br>
              <a:rPr lang="fr-FR" dirty="0"/>
            </a:br>
            <a:r>
              <a:rPr lang="fr-FR" dirty="0"/>
              <a:t>Labels forts + CNN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576871"/>
              </p:ext>
            </p:extLst>
          </p:nvPr>
        </p:nvGraphicFramePr>
        <p:xfrm>
          <a:off x="9155240" y="4082577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83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81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b="1" dirty="0" err="1">
                          <a:solidFill>
                            <a:srgbClr val="00B050"/>
                          </a:solidFill>
                        </a:rPr>
                        <a:t>Recall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87 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84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F2</a:t>
                      </a:r>
                      <a:endParaRPr lang="en-US" sz="1400" b="1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rgbClr val="00B050"/>
                          </a:solidFill>
                        </a:rPr>
                        <a:t>86</a:t>
                      </a:r>
                      <a:endParaRPr lang="en-US" sz="1400" b="1" kern="1200" dirty="0">
                        <a:solidFill>
                          <a:srgbClr val="00B05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43</a:t>
                      </a:r>
                      <a:endParaRPr lang="en-US" sz="14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DF7A9AFC-4FAF-446B-A3BF-B3AF8052B5DC}"/>
              </a:ext>
            </a:extLst>
          </p:cNvPr>
          <p:cNvSpPr txBox="1"/>
          <p:nvPr/>
        </p:nvSpPr>
        <p:spPr>
          <a:xfrm>
            <a:off x="215900" y="1930400"/>
            <a:ext cx="99603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 </a:t>
            </a:r>
            <a:r>
              <a:rPr lang="fr-FR" sz="1050" dirty="0">
                <a:sym typeface="Wingdings" panose="05000000000000000000" pitchFamily="2" charset="2"/>
              </a:rPr>
              <a:t> 32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FD9C790-A024-4175-B567-54FFA7E6ED3F}"/>
              </a:ext>
            </a:extLst>
          </p:cNvPr>
          <p:cNvSpPr txBox="1"/>
          <p:nvPr/>
        </p:nvSpPr>
        <p:spPr>
          <a:xfrm>
            <a:off x="1471907" y="29045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32 </a:t>
            </a:r>
            <a:r>
              <a:rPr lang="fr-FR" sz="1050" dirty="0">
                <a:sym typeface="Wingdings" panose="05000000000000000000" pitchFamily="2" charset="2"/>
              </a:rPr>
              <a:t> 64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47A007-A47F-43D0-B636-7AA806765533}"/>
              </a:ext>
            </a:extLst>
          </p:cNvPr>
          <p:cNvSpPr txBox="1"/>
          <p:nvPr/>
        </p:nvSpPr>
        <p:spPr>
          <a:xfrm>
            <a:off x="1528888" y="21176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224 </a:t>
            </a:r>
            <a:r>
              <a:rPr lang="fr-FR" sz="1050" dirty="0">
                <a:sym typeface="Wingdings" panose="05000000000000000000" pitchFamily="2" charset="2"/>
              </a:rPr>
              <a:t> 112</a:t>
            </a:r>
            <a:endParaRPr lang="en-US" sz="105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7F0259B-FC1F-4CE6-8C1E-AEF30FB7B2D6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>
            <a:off x="1211935" y="2339023"/>
            <a:ext cx="316953" cy="8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7DCF3E44-F85A-488A-B890-CDA79C04F786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 flipH="1">
            <a:off x="2026905" y="25773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5FE6EEE8-53A9-4BE1-A763-6AE38AC9A0D1}"/>
              </a:ext>
            </a:extLst>
          </p:cNvPr>
          <p:cNvSpPr txBox="1"/>
          <p:nvPr/>
        </p:nvSpPr>
        <p:spPr>
          <a:xfrm>
            <a:off x="2853018" y="386970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64 </a:t>
            </a:r>
            <a:r>
              <a:rPr lang="fr-FR" sz="1050" dirty="0">
                <a:sym typeface="Wingdings" panose="05000000000000000000" pitchFamily="2" charset="2"/>
              </a:rPr>
              <a:t> 128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45022854-83DF-44E2-A204-1A17B2FE60AA}"/>
              </a:ext>
            </a:extLst>
          </p:cNvPr>
          <p:cNvSpPr txBox="1"/>
          <p:nvPr/>
        </p:nvSpPr>
        <p:spPr>
          <a:xfrm>
            <a:off x="2909999" y="308288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122 </a:t>
            </a:r>
            <a:r>
              <a:rPr lang="fr-FR" sz="1050" dirty="0">
                <a:sym typeface="Wingdings" panose="05000000000000000000" pitchFamily="2" charset="2"/>
              </a:rPr>
              <a:t> 56</a:t>
            </a:r>
            <a:endParaRPr lang="en-US" sz="1050" dirty="0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69A4C717-7BB6-433E-A7FE-4CFC08004481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2593046" y="331273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633FE61-FA11-431B-AC5C-7B975698924C}"/>
              </a:ext>
            </a:extLst>
          </p:cNvPr>
          <p:cNvCxnSpPr>
            <a:cxnSpLocks/>
            <a:stCxn id="37" idx="2"/>
            <a:endCxn id="36" idx="0"/>
          </p:cNvCxnSpPr>
          <p:nvPr/>
        </p:nvCxnSpPr>
        <p:spPr>
          <a:xfrm flipH="1">
            <a:off x="3408016" y="354258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0D736718-2484-40D0-B746-E77C7CAC98C6}"/>
              </a:ext>
            </a:extLst>
          </p:cNvPr>
          <p:cNvSpPr txBox="1"/>
          <p:nvPr/>
        </p:nvSpPr>
        <p:spPr>
          <a:xfrm>
            <a:off x="4254672" y="48539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128 </a:t>
            </a:r>
            <a:r>
              <a:rPr lang="fr-FR" sz="1050" dirty="0">
                <a:sym typeface="Wingdings" panose="05000000000000000000" pitchFamily="2" charset="2"/>
              </a:rPr>
              <a:t> 256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888DE27D-002C-4004-A96A-8F0C24C554B0}"/>
              </a:ext>
            </a:extLst>
          </p:cNvPr>
          <p:cNvSpPr txBox="1"/>
          <p:nvPr/>
        </p:nvSpPr>
        <p:spPr>
          <a:xfrm>
            <a:off x="4311653" y="40671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56 </a:t>
            </a:r>
            <a:r>
              <a:rPr lang="fr-FR" sz="1050" dirty="0">
                <a:sym typeface="Wingdings" panose="05000000000000000000" pitchFamily="2" charset="2"/>
              </a:rPr>
              <a:t> 28</a:t>
            </a:r>
            <a:endParaRPr lang="en-US" sz="1050" dirty="0"/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386915B-61DD-404E-9512-EBE6DD4D28E7}"/>
              </a:ext>
            </a:extLst>
          </p:cNvPr>
          <p:cNvCxnSpPr>
            <a:cxnSpLocks/>
            <a:endCxn id="41" idx="1"/>
          </p:cNvCxnSpPr>
          <p:nvPr/>
        </p:nvCxnSpPr>
        <p:spPr>
          <a:xfrm flipV="1">
            <a:off x="3994700" y="42969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650A520-5529-4BF6-940F-A5682366E857}"/>
              </a:ext>
            </a:extLst>
          </p:cNvPr>
          <p:cNvCxnSpPr>
            <a:cxnSpLocks/>
            <a:stCxn id="41" idx="2"/>
            <a:endCxn id="40" idx="0"/>
          </p:cNvCxnSpPr>
          <p:nvPr/>
        </p:nvCxnSpPr>
        <p:spPr>
          <a:xfrm flipH="1">
            <a:off x="4809670" y="45268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145199E9-1F8D-4323-B0F5-5A7AEA5A02A3}"/>
              </a:ext>
            </a:extLst>
          </p:cNvPr>
          <p:cNvSpPr txBox="1"/>
          <p:nvPr/>
        </p:nvSpPr>
        <p:spPr>
          <a:xfrm>
            <a:off x="5642165" y="5844552"/>
            <a:ext cx="110999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 err="1"/>
              <a:t>Conv</a:t>
            </a:r>
            <a:r>
              <a:rPr lang="fr-FR" sz="1050" dirty="0"/>
              <a:t> 2d</a:t>
            </a:r>
          </a:p>
          <a:p>
            <a:pPr algn="ctr"/>
            <a:r>
              <a:rPr lang="fr-FR" sz="1050" dirty="0"/>
              <a:t>256 </a:t>
            </a:r>
            <a:r>
              <a:rPr lang="fr-FR" sz="1050" dirty="0">
                <a:sym typeface="Wingdings" panose="05000000000000000000" pitchFamily="2" charset="2"/>
              </a:rPr>
              <a:t> 512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3x3</a:t>
            </a: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BN + </a:t>
            </a:r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en-US" sz="105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493E95-E985-4BDE-B2AB-97834BA334A5}"/>
              </a:ext>
            </a:extLst>
          </p:cNvPr>
          <p:cNvSpPr txBox="1"/>
          <p:nvPr/>
        </p:nvSpPr>
        <p:spPr>
          <a:xfrm>
            <a:off x="5699146" y="50577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28 </a:t>
            </a:r>
            <a:r>
              <a:rPr lang="fr-FR" sz="1050" dirty="0">
                <a:sym typeface="Wingdings" panose="05000000000000000000" pitchFamily="2" charset="2"/>
              </a:rPr>
              <a:t> 14</a:t>
            </a:r>
            <a:endParaRPr lang="en-US" sz="1050" dirty="0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9DA9DE45-2733-43AF-AE88-F596C45DE74D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5382193" y="52875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A35287C-6EB6-4234-A6B6-AB98299E3760}"/>
              </a:ext>
            </a:extLst>
          </p:cNvPr>
          <p:cNvCxnSpPr>
            <a:cxnSpLocks/>
            <a:stCxn id="45" idx="2"/>
            <a:endCxn id="44" idx="0"/>
          </p:cNvCxnSpPr>
          <p:nvPr/>
        </p:nvCxnSpPr>
        <p:spPr>
          <a:xfrm flipH="1">
            <a:off x="6197163" y="5517435"/>
            <a:ext cx="1" cy="327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A8D44287-11C6-4EBF-9F73-B39AEA340C71}"/>
              </a:ext>
            </a:extLst>
          </p:cNvPr>
          <p:cNvSpPr txBox="1"/>
          <p:nvPr/>
        </p:nvSpPr>
        <p:spPr>
          <a:xfrm>
            <a:off x="7074208" y="6035635"/>
            <a:ext cx="996035" cy="459700"/>
          </a:xfrm>
          <a:prstGeom prst="round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MaxPool2D</a:t>
            </a:r>
          </a:p>
          <a:p>
            <a:pPr algn="ctr"/>
            <a:r>
              <a:rPr lang="fr-FR" sz="1050" dirty="0"/>
              <a:t>14 </a:t>
            </a:r>
            <a:r>
              <a:rPr lang="fr-FR" sz="1050" dirty="0">
                <a:sym typeface="Wingdings" panose="05000000000000000000" pitchFamily="2" charset="2"/>
              </a:rPr>
              <a:t> 7</a:t>
            </a:r>
            <a:endParaRPr lang="en-US" sz="1050" dirty="0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883D4E70-99A1-4DF5-A1A7-7E89266B1355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6757255" y="6265485"/>
            <a:ext cx="316953" cy="8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1ABCA897-3CA7-44CB-9567-9D57A663B814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7572225" y="4686947"/>
            <a:ext cx="1" cy="13486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2E98A92D-D8C8-418C-8D50-70EF4C48D401}"/>
              </a:ext>
            </a:extLst>
          </p:cNvPr>
          <p:cNvSpPr txBox="1"/>
          <p:nvPr/>
        </p:nvSpPr>
        <p:spPr>
          <a:xfrm>
            <a:off x="6157512" y="3321252"/>
            <a:ext cx="1915898" cy="1353562"/>
          </a:xfrm>
          <a:prstGeom prst="roundRect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Global </a:t>
            </a:r>
            <a:r>
              <a:rPr lang="fr-FR" sz="1050" dirty="0" err="1"/>
              <a:t>Average</a:t>
            </a:r>
            <a:r>
              <a:rPr lang="fr-FR" sz="1050" dirty="0"/>
              <a:t> </a:t>
            </a:r>
            <a:r>
              <a:rPr lang="fr-FR" sz="1050" dirty="0" err="1"/>
              <a:t>Pooling</a:t>
            </a:r>
            <a:endParaRPr lang="fr-FR" sz="1050" dirty="0"/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Flatten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512  256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ReLU</a:t>
            </a:r>
            <a:endParaRPr lang="fr-FR" sz="1050" dirty="0">
              <a:sym typeface="Wingdings" panose="05000000000000000000" pitchFamily="2" charset="2"/>
            </a:endParaRPr>
          </a:p>
          <a:p>
            <a:pPr algn="ctr"/>
            <a:r>
              <a:rPr lang="fr-FR" sz="1050" dirty="0">
                <a:sym typeface="Wingdings" panose="05000000000000000000" pitchFamily="2" charset="2"/>
              </a:rPr>
              <a:t>Dropout 0,4</a:t>
            </a:r>
          </a:p>
          <a:p>
            <a:pPr algn="ctr"/>
            <a:r>
              <a:rPr lang="fr-FR" sz="1050" dirty="0" err="1">
                <a:sym typeface="Wingdings" panose="05000000000000000000" pitchFamily="2" charset="2"/>
              </a:rPr>
              <a:t>Linear</a:t>
            </a:r>
            <a:r>
              <a:rPr lang="fr-FR" sz="1050" dirty="0">
                <a:sym typeface="Wingdings" panose="05000000000000000000" pitchFamily="2" charset="2"/>
              </a:rPr>
              <a:t> 256 2</a:t>
            </a:r>
            <a:endParaRPr lang="en-US" sz="105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1F2D9E7A-A789-4D30-9BEF-0B4BFB48F2D5}"/>
              </a:ext>
            </a:extLst>
          </p:cNvPr>
          <p:cNvSpPr txBox="1"/>
          <p:nvPr/>
        </p:nvSpPr>
        <p:spPr>
          <a:xfrm>
            <a:off x="1030870" y="5147121"/>
            <a:ext cx="996035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LR 0,001</a:t>
            </a:r>
            <a:endParaRPr lang="en-US" sz="105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46FC88DB-221B-4048-8E0D-41D4E1EADC6F}"/>
              </a:ext>
            </a:extLst>
          </p:cNvPr>
          <p:cNvSpPr txBox="1"/>
          <p:nvPr/>
        </p:nvSpPr>
        <p:spPr>
          <a:xfrm>
            <a:off x="1146958" y="5471132"/>
            <a:ext cx="763859" cy="280928"/>
          </a:xfrm>
          <a:prstGeom prst="round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050" dirty="0"/>
              <a:t>8 </a:t>
            </a:r>
            <a:r>
              <a:rPr lang="fr-FR" sz="1050" dirty="0" err="1"/>
              <a:t>Epochs</a:t>
            </a:r>
            <a:endParaRPr lang="en-US" sz="1050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D222059-3A84-46BD-A26D-787B9213B136}"/>
              </a:ext>
            </a:extLst>
          </p:cNvPr>
          <p:cNvSpPr txBox="1"/>
          <p:nvPr/>
        </p:nvSpPr>
        <p:spPr>
          <a:xfrm>
            <a:off x="9067800" y="240268"/>
            <a:ext cx="27178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VAL SET (30 IMAGES)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3FDACD3-A101-45F1-93A2-C9FB79394FF7}"/>
              </a:ext>
            </a:extLst>
          </p:cNvPr>
          <p:cNvCxnSpPr>
            <a:cxnSpLocks/>
          </p:cNvCxnSpPr>
          <p:nvPr/>
        </p:nvCxnSpPr>
        <p:spPr>
          <a:xfrm>
            <a:off x="6883400" y="2813050"/>
            <a:ext cx="0" cy="3746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E507D07F-ABB2-4ACB-8270-CD809C9A7FF8}"/>
              </a:ext>
            </a:extLst>
          </p:cNvPr>
          <p:cNvSpPr txBox="1"/>
          <p:nvPr/>
        </p:nvSpPr>
        <p:spPr>
          <a:xfrm>
            <a:off x="6197162" y="2162502"/>
            <a:ext cx="1403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5"/>
                </a:solidFill>
              </a:rPr>
              <a:t>Labels </a:t>
            </a:r>
          </a:p>
          <a:p>
            <a:pPr algn="ctr"/>
            <a:r>
              <a:rPr lang="fr-FR" dirty="0">
                <a:solidFill>
                  <a:schemeClr val="accent5"/>
                </a:solidFill>
              </a:rPr>
              <a:t>forts</a:t>
            </a:r>
            <a:endParaRPr lang="en-US" dirty="0">
              <a:solidFill>
                <a:schemeClr val="accent5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0568B07-69CC-464A-9E0D-A76CD2443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0480" y="846495"/>
            <a:ext cx="3305346" cy="2984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35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b="1" dirty="0" err="1">
                <a:solidFill>
                  <a:schemeClr val="tx1"/>
                </a:solidFill>
              </a:rPr>
              <a:t>Recap</a:t>
            </a:r>
            <a:endParaRPr lang="en-US" dirty="0"/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95BF60E-EE98-4B0D-AEF1-85DBEB125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402463"/>
              </p:ext>
            </p:extLst>
          </p:nvPr>
        </p:nvGraphicFramePr>
        <p:xfrm>
          <a:off x="1428750" y="1790700"/>
          <a:ext cx="9594850" cy="4296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8970">
                  <a:extLst>
                    <a:ext uri="{9D8B030D-6E8A-4147-A177-3AD203B41FA5}">
                      <a16:colId xmlns:a16="http://schemas.microsoft.com/office/drawing/2014/main" val="234434597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3899021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1748017735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015963174"/>
                    </a:ext>
                  </a:extLst>
                </a:gridCol>
                <a:gridCol w="1918970">
                  <a:extLst>
                    <a:ext uri="{9D8B030D-6E8A-4147-A177-3AD203B41FA5}">
                      <a16:colId xmlns:a16="http://schemas.microsoft.com/office/drawing/2014/main" val="4166799772"/>
                    </a:ext>
                  </a:extLst>
                </a:gridCol>
              </a:tblGrid>
              <a:tr h="1416050"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Metrique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%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1</a:t>
                      </a:r>
                    </a:p>
                    <a:p>
                      <a:pPr algn="ctr"/>
                      <a:r>
                        <a:rPr lang="fr-FR" dirty="0"/>
                        <a:t>Non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2</a:t>
                      </a:r>
                    </a:p>
                    <a:p>
                      <a:pPr algn="ctr"/>
                      <a:r>
                        <a:rPr lang="fr-FR" dirty="0"/>
                        <a:t>Semi sup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3</a:t>
                      </a:r>
                    </a:p>
                    <a:p>
                      <a:pPr algn="ctr"/>
                      <a:r>
                        <a:rPr lang="fr-FR" dirty="0"/>
                        <a:t>Semi sup + </a:t>
                      </a:r>
                      <a:r>
                        <a:rPr lang="fr-FR" dirty="0" err="1"/>
                        <a:t>Finetuning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Phase 4</a:t>
                      </a:r>
                    </a:p>
                    <a:p>
                      <a:pPr algn="ctr"/>
                      <a:r>
                        <a:rPr lang="fr-FR" dirty="0"/>
                        <a:t>Supervisé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98700847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Accuracy</a:t>
                      </a:r>
                      <a:r>
                        <a:rPr lang="fr-FR" b="1" dirty="0"/>
                        <a:t> 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90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156695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 err="1"/>
                        <a:t>Recall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67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93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87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6008279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F2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70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92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86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7094102"/>
                  </a:ext>
                </a:extLst>
              </a:tr>
              <a:tr h="720090">
                <a:tc>
                  <a:txBody>
                    <a:bodyPr/>
                    <a:lstStyle/>
                    <a:p>
                      <a:r>
                        <a:rPr lang="fr-FR" b="1" dirty="0"/>
                        <a:t>ARI</a:t>
                      </a:r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rgbClr val="00B050"/>
                          </a:solidFill>
                        </a:rPr>
                        <a:t>63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43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9348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492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" name="Graphique 19" descr="Bulle de penséedzeded">
            <a:extLst>
              <a:ext uri="{FF2B5EF4-FFF2-40B4-BE49-F238E27FC236}">
                <a16:creationId xmlns:a16="http://schemas.microsoft.com/office/drawing/2014/main" id="{5B6A5FF7-B4B0-4A59-BCD6-2EBBE4EF889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5773039" y="523702"/>
            <a:ext cx="2719299" cy="2259542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E61E63DB-9C0C-41A9-AFE4-1747FE1D3995}"/>
              </a:ext>
            </a:extLst>
          </p:cNvPr>
          <p:cNvSpPr txBox="1"/>
          <p:nvPr/>
        </p:nvSpPr>
        <p:spPr>
          <a:xfrm>
            <a:off x="6455236" y="1130253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Label </a:t>
            </a:r>
            <a:r>
              <a:rPr lang="fr-FR" sz="1400" dirty="0" err="1"/>
              <a:t>Spreading</a:t>
            </a:r>
            <a:r>
              <a:rPr lang="fr-FR" sz="1400" dirty="0"/>
              <a:t> (</a:t>
            </a:r>
            <a:r>
              <a:rPr lang="fr-FR" sz="1400" dirty="0" err="1"/>
              <a:t>SKLearn</a:t>
            </a:r>
            <a:r>
              <a:rPr lang="fr-FR" sz="1400" dirty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459832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" name="Graphique 19" descr="Bulle de penséedzeded">
            <a:extLst>
              <a:ext uri="{FF2B5EF4-FFF2-40B4-BE49-F238E27FC236}">
                <a16:creationId xmlns:a16="http://schemas.microsoft.com/office/drawing/2014/main" id="{5B6A5FF7-B4B0-4A59-BCD6-2EBBE4EF889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5686484" y="411150"/>
            <a:ext cx="2719299" cy="2259542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E61E63DB-9C0C-41A9-AFE4-1747FE1D3995}"/>
              </a:ext>
            </a:extLst>
          </p:cNvPr>
          <p:cNvSpPr txBox="1"/>
          <p:nvPr/>
        </p:nvSpPr>
        <p:spPr>
          <a:xfrm>
            <a:off x="6391349" y="1008390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Label </a:t>
            </a:r>
            <a:r>
              <a:rPr lang="fr-FR" sz="1400" dirty="0" err="1"/>
              <a:t>Spreading</a:t>
            </a:r>
            <a:r>
              <a:rPr lang="fr-FR" sz="1400" dirty="0"/>
              <a:t> (</a:t>
            </a:r>
            <a:r>
              <a:rPr lang="fr-FR" sz="1400" dirty="0" err="1"/>
              <a:t>SKLearn</a:t>
            </a:r>
            <a:r>
              <a:rPr lang="fr-FR" sz="1400" dirty="0"/>
              <a:t>)</a:t>
            </a:r>
            <a:endParaRPr lang="en-US" sz="1400" dirty="0"/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DE611B9-9645-4B82-8885-4D1C528A7FC1}"/>
              </a:ext>
            </a:extLst>
          </p:cNvPr>
          <p:cNvCxnSpPr/>
          <p:nvPr/>
        </p:nvCxnSpPr>
        <p:spPr>
          <a:xfrm>
            <a:off x="10117332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EA43040B-EF4A-48B8-BAF0-43709645AFC5}"/>
              </a:ext>
            </a:extLst>
          </p:cNvPr>
          <p:cNvCxnSpPr>
            <a:cxnSpLocks/>
          </p:cNvCxnSpPr>
          <p:nvPr/>
        </p:nvCxnSpPr>
        <p:spPr>
          <a:xfrm flipH="1">
            <a:off x="10117332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Graphique 23" descr="Bulle de penséedzeded">
            <a:extLst>
              <a:ext uri="{FF2B5EF4-FFF2-40B4-BE49-F238E27FC236}">
                <a16:creationId xmlns:a16="http://schemas.microsoft.com/office/drawing/2014/main" id="{24C7A375-9733-46D8-8CF6-B3E4A247665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8799349" y="367246"/>
            <a:ext cx="2719299" cy="2259542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F40A2958-0661-4247-A811-C99E8431BAB3}"/>
              </a:ext>
            </a:extLst>
          </p:cNvPr>
          <p:cNvSpPr txBox="1"/>
          <p:nvPr/>
        </p:nvSpPr>
        <p:spPr>
          <a:xfrm>
            <a:off x="9481546" y="973797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/>
              <a:t>Modele</a:t>
            </a:r>
            <a:r>
              <a:rPr lang="fr-FR" sz="1400" dirty="0"/>
              <a:t> </a:t>
            </a:r>
            <a:r>
              <a:rPr lang="fr-FR" sz="1400" dirty="0" err="1"/>
              <a:t>SKLearn</a:t>
            </a:r>
            <a:endParaRPr lang="fr-FR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700900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10494034-163E-4BCF-8130-67EDC71D42D3}"/>
              </a:ext>
            </a:extLst>
          </p:cNvPr>
          <p:cNvSpPr txBox="1"/>
          <p:nvPr/>
        </p:nvSpPr>
        <p:spPr>
          <a:xfrm>
            <a:off x="2348844" y="1788672"/>
            <a:ext cx="9092051" cy="42882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fr-FR" sz="3600" dirty="0">
                <a:solidFill>
                  <a:schemeClr val="accent1"/>
                </a:solidFill>
              </a:rPr>
              <a:t>Alternatives End to End: </a:t>
            </a:r>
          </a:p>
          <a:p>
            <a:pPr lvl="1" algn="ctr"/>
            <a:r>
              <a:rPr lang="fr-FR" sz="3600" b="1" dirty="0"/>
              <a:t>SGAN</a:t>
            </a:r>
          </a:p>
          <a:p>
            <a:pPr lvl="1" algn="ctr"/>
            <a:r>
              <a:rPr lang="fr-FR" sz="3600" b="1" dirty="0"/>
              <a:t>MEAN TEACHER </a:t>
            </a:r>
          </a:p>
        </p:txBody>
      </p:sp>
    </p:spTree>
    <p:extLst>
      <p:ext uri="{BB962C8B-B14F-4D97-AF65-F5344CB8AC3E}">
        <p14:creationId xmlns:p14="http://schemas.microsoft.com/office/powerpoint/2010/main" val="4076361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2628C-565D-41F6-9887-928CC37ED1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FIN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6537276-AC9F-40DD-9A84-D3308F11E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403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11117</TotalTime>
  <Words>1293</Words>
  <Application>Microsoft Office PowerPoint</Application>
  <PresentationFormat>Grand écran</PresentationFormat>
  <Paragraphs>604</Paragraphs>
  <Slides>28</Slides>
  <Notes>0</Notes>
  <HiddenSlides>4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Trebuchet MS</vt:lpstr>
      <vt:lpstr>Wingdings</vt:lpstr>
      <vt:lpstr>Wingdings 3</vt:lpstr>
      <vt:lpstr>Facette</vt:lpstr>
      <vt:lpstr>P7: Labellisez et appliquez des approches semi-supervisées en traitement d'images</vt:lpstr>
      <vt:lpstr>DATASET</vt:lpstr>
      <vt:lpstr>Stratégie</vt:lpstr>
      <vt:lpstr>Dataset Pytorch</vt:lpstr>
      <vt:lpstr>Embedding - RESNET 50 </vt:lpstr>
      <vt:lpstr>Embedding - EfficientNet b4  </vt:lpstr>
      <vt:lpstr>Reduction de dimension – PCA RESNET 50</vt:lpstr>
      <vt:lpstr>Reduction de dimension – PCA EFNET 4B</vt:lpstr>
      <vt:lpstr>Clustering – Kmeans RESNET 50</vt:lpstr>
      <vt:lpstr>Clustering – Kmeans EFNET 4B</vt:lpstr>
      <vt:lpstr>Clustering – Gaussian Mixture Models EFNET 4B</vt:lpstr>
      <vt:lpstr>Présentation PowerPoint</vt:lpstr>
      <vt:lpstr>Clustering – Kmeans RESNET50</vt:lpstr>
      <vt:lpstr>Clustering – Kmeans EFNET B4</vt:lpstr>
      <vt:lpstr>NON SUPERVISE Clustering – GMM EFNET B4</vt:lpstr>
      <vt:lpstr>SEMI SUPERVISE Labels faibles clustering + CNN </vt:lpstr>
      <vt:lpstr>SEMI SUPERVISE Labels faibles clustering + CNN </vt:lpstr>
      <vt:lpstr> VAL SET 30 Labels Non supervisé  VS  Semi supervisé VS Semi supervisé + Finetuning VS  Non supervisé</vt:lpstr>
      <vt:lpstr>1 : NON SUPERVISE Clustering GMM sur val set</vt:lpstr>
      <vt:lpstr>2: SEMI SUPERVISE Labels faibles clustering + CNN </vt:lpstr>
      <vt:lpstr>2: SEMI SUPERVISE Labels faibles clustering + CNN </vt:lpstr>
      <vt:lpstr>3: SEMI SUPERVISE - Finetuning CNN + Labels forts (70-30)</vt:lpstr>
      <vt:lpstr>4: SUPERVISE Labels forts + CNN </vt:lpstr>
      <vt:lpstr>Recap</vt:lpstr>
      <vt:lpstr>Recommandations</vt:lpstr>
      <vt:lpstr>Recommandations</vt:lpstr>
      <vt:lpstr>Recommandations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EXERCICE: Analysez des données de systèmes éducatifs</dc:title>
  <dc:creator>Kevin</dc:creator>
  <cp:lastModifiedBy>Kevin</cp:lastModifiedBy>
  <cp:revision>296</cp:revision>
  <dcterms:created xsi:type="dcterms:W3CDTF">2025-12-11T08:49:08Z</dcterms:created>
  <dcterms:modified xsi:type="dcterms:W3CDTF">2026-04-16T18:01:11Z</dcterms:modified>
</cp:coreProperties>
</file>